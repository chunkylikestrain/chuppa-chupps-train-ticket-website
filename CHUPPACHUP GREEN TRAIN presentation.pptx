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3" r:id="rId15"/>
    <p:sldId id="321" r:id="rId16"/>
    <p:sldId id="322" r:id="rId17"/>
    <p:sldId id="324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56" d="100"/>
          <a:sy n="56" d="100"/>
        </p:scale>
        <p:origin x="58" y="53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F9D276-438B-26DC-E30A-0B550EE91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55" y="102732"/>
            <a:ext cx="8734816" cy="65511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97067"/>
            <a:ext cx="7878871" cy="2033182"/>
          </a:xfrm>
        </p:spPr>
        <p:txBody>
          <a:bodyPr anchor="ctr"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CHUPPACHUP GREEN TRAIN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The future of transportation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project presentation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EFC72-5CA5-AB34-3D70-A8DBAB01761E}"/>
              </a:ext>
            </a:extLst>
          </p:cNvPr>
          <p:cNvSpPr/>
          <p:nvPr/>
        </p:nvSpPr>
        <p:spPr>
          <a:xfrm>
            <a:off x="125260" y="3206663"/>
            <a:ext cx="3607496" cy="100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085F6-0CCD-DB04-5BB0-52ACAEC6913E}"/>
              </a:ext>
            </a:extLst>
          </p:cNvPr>
          <p:cNvSpPr txBox="1"/>
          <p:nvPr/>
        </p:nvSpPr>
        <p:spPr>
          <a:xfrm>
            <a:off x="125260" y="5934112"/>
            <a:ext cx="73277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Presented by : Trong Minh Khoa Nguyen</a:t>
            </a:r>
          </a:p>
          <a:p>
            <a:r>
              <a:rPr lang="en-US" sz="2000" dirty="0">
                <a:solidFill>
                  <a:schemeClr val="bg1"/>
                </a:solidFill>
              </a:rPr>
              <a:t>UITM – University of information Technology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198"/>
            <a:ext cx="5999967" cy="143423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29840"/>
            <a:ext cx="7256206" cy="3712143"/>
          </a:xfrm>
        </p:spPr>
        <p:txBody>
          <a:bodyPr numCol="2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Project Overview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Problem &amp; Solution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 Users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System Features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Technology Stack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System Architecture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Passenger Module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Admin Module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Database Design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Deployment &amp; DevOps Testing &amp; Validation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Project Management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744" y="311022"/>
            <a:ext cx="6382933" cy="5851783"/>
          </a:xfrm>
        </p:spPr>
        <p:txBody>
          <a:bodyPr/>
          <a:lstStyle/>
          <a:p>
            <a:r>
              <a:rPr lang="en-US" sz="2400" dirty="0"/>
              <a:t>Problem &amp; solution:</a:t>
            </a:r>
            <a:br>
              <a:rPr lang="en-US" dirty="0"/>
            </a:br>
            <a:r>
              <a:rPr lang="en-US" sz="1400" dirty="0"/>
              <a:t>- Problem:</a:t>
            </a:r>
            <a:br>
              <a:rPr lang="en-US" sz="1400" dirty="0"/>
            </a:br>
            <a:r>
              <a:rPr lang="en-US" sz="1400" dirty="0"/>
              <a:t>- Traditional ticket booking is</a:t>
            </a:r>
            <a:br>
              <a:rPr lang="en-US" sz="1400" dirty="0"/>
            </a:br>
            <a:r>
              <a:rPr lang="en-US" sz="1400" dirty="0"/>
              <a:t>- inconvenient</a:t>
            </a:r>
            <a:br>
              <a:rPr lang="en-US" sz="1400" dirty="0"/>
            </a:br>
            <a:r>
              <a:rPr lang="en-US" sz="1400" dirty="0"/>
              <a:t>- Risk of double booking </a:t>
            </a:r>
            <a:br>
              <a:rPr lang="en-US" sz="1400" dirty="0"/>
            </a:br>
            <a:r>
              <a:rPr lang="en-US" sz="1400" dirty="0"/>
              <a:t> - Limited discount verification </a:t>
            </a:r>
            <a:br>
              <a:rPr lang="en-US" sz="1400" dirty="0"/>
            </a:br>
            <a:r>
              <a:rPr lang="en-US" sz="1400" dirty="0"/>
              <a:t> - Fragmented management process</a:t>
            </a:r>
            <a:br>
              <a:rPr lang="en-US" dirty="0"/>
            </a:br>
            <a:r>
              <a:rPr lang="en-US" sz="2400" dirty="0"/>
              <a:t>Solution</a:t>
            </a:r>
            <a:r>
              <a:rPr lang="vi-VN" sz="2400" dirty="0"/>
              <a:t>:</a:t>
            </a:r>
            <a:br>
              <a:rPr lang="vi-VN" sz="3200" dirty="0"/>
            </a:br>
            <a:r>
              <a:rPr lang="en-US" sz="1400" dirty="0"/>
              <a:t> -</a:t>
            </a:r>
            <a:r>
              <a:rPr lang="vi-VN" sz="1400" dirty="0"/>
              <a:t> </a:t>
            </a:r>
            <a:r>
              <a:rPr lang="en-US" sz="1400" dirty="0" err="1"/>
              <a:t>ChuppaChup</a:t>
            </a:r>
            <a:r>
              <a:rPr lang="en-US" sz="1400" dirty="0"/>
              <a:t> Green Train Online ticket booking; </a:t>
            </a:r>
            <a:br>
              <a:rPr lang="en-US" sz="1400" dirty="0"/>
            </a:br>
            <a:r>
              <a:rPr lang="en-US" sz="1400" dirty="0"/>
              <a:t> - Real-time seat selection </a:t>
            </a:r>
            <a:br>
              <a:rPr lang="en-US" sz="1400" dirty="0"/>
            </a:br>
            <a:r>
              <a:rPr lang="en-US" sz="1400" dirty="0"/>
              <a:t> - Dynamic pricing </a:t>
            </a:r>
            <a:br>
              <a:rPr lang="en-US" sz="1400" dirty="0"/>
            </a:br>
            <a:r>
              <a:rPr lang="en-US" sz="1400" dirty="0"/>
              <a:t> - Loyalty system </a:t>
            </a:r>
            <a:br>
              <a:rPr lang="en-US" sz="1400" dirty="0"/>
            </a:br>
            <a:r>
              <a:rPr lang="en-US" sz="1400" dirty="0"/>
              <a:t> - Administrative dashboard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DA8E8C-6ED5-D542-7401-2703D12E3F6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-1590" r="39590" b="1590"/>
          <a:stretch>
            <a:fillRect/>
          </a:stretch>
        </p:blipFill>
        <p:spPr>
          <a:xfrm>
            <a:off x="442913" y="311022"/>
            <a:ext cx="4868123" cy="6043801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31A4EDC-0DDA-F968-6A96-9A5990CC9A08}"/>
              </a:ext>
            </a:extLst>
          </p:cNvPr>
          <p:cNvSpPr txBox="1">
            <a:spLocks/>
          </p:cNvSpPr>
          <p:nvPr/>
        </p:nvSpPr>
        <p:spPr>
          <a:xfrm>
            <a:off x="10583906" y="389718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z="2400" b="1" smtClean="0">
                <a:solidFill>
                  <a:schemeClr val="accent6"/>
                </a:solidFill>
              </a:rPr>
              <a:pPr algn="r"/>
              <a:t>3</a:t>
            </a:fld>
            <a:endParaRPr lang="en-US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05" y="653178"/>
            <a:ext cx="4985359" cy="606860"/>
          </a:xfrm>
        </p:spPr>
        <p:txBody>
          <a:bodyPr/>
          <a:lstStyle/>
          <a:p>
            <a:r>
              <a:rPr lang="en-US" dirty="0"/>
              <a:t>Target Users: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78072"/>
            <a:ext cx="3220872" cy="45639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Passenger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Search journeys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Select seats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Buy tickets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loyalty points</a:t>
            </a:r>
          </a:p>
        </p:txBody>
      </p:sp>
      <p:sp>
        <p:nvSpPr>
          <p:cNvPr id="11" name="Slide Number Placeholder 22">
            <a:extLst>
              <a:ext uri="{FF2B5EF4-FFF2-40B4-BE49-F238E27FC236}">
                <a16:creationId xmlns:a16="http://schemas.microsoft.com/office/drawing/2014/main" id="{98C32FC6-4949-7066-A632-243B788BC9AF}"/>
              </a:ext>
            </a:extLst>
          </p:cNvPr>
          <p:cNvSpPr txBox="1">
            <a:spLocks/>
          </p:cNvSpPr>
          <p:nvPr/>
        </p:nvSpPr>
        <p:spPr>
          <a:xfrm>
            <a:off x="10804549" y="198653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en-US" sz="2400" smtClean="0">
                <a:solidFill>
                  <a:schemeClr val="accent6"/>
                </a:solidFill>
              </a:rPr>
              <a:pPr algn="r"/>
              <a:t>4</a:t>
            </a:fld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B303CE-65CA-32E1-0845-5E39ABF4415E}"/>
              </a:ext>
            </a:extLst>
          </p:cNvPr>
          <p:cNvSpPr txBox="1"/>
          <p:nvPr/>
        </p:nvSpPr>
        <p:spPr>
          <a:xfrm>
            <a:off x="7378820" y="1509481"/>
            <a:ext cx="39595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Administrator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Manage trains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Manage schedules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Manage pricing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Verify student cards</a:t>
            </a:r>
          </a:p>
        </p:txBody>
      </p:sp>
      <p:pic>
        <p:nvPicPr>
          <p:cNvPr id="19" name="Picture 18" descr="Administrator - Free computer icons">
            <a:extLst>
              <a:ext uri="{FF2B5EF4-FFF2-40B4-BE49-F238E27FC236}">
                <a16:creationId xmlns:a16="http://schemas.microsoft.com/office/drawing/2014/main" id="{3A20C6C0-3BC6-7338-D4B5-093D95991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730" y="3862315"/>
            <a:ext cx="3053687" cy="3053687"/>
          </a:xfrm>
          <a:prstGeom prst="rect">
            <a:avLst/>
          </a:prstGeom>
        </p:spPr>
      </p:pic>
      <p:pic>
        <p:nvPicPr>
          <p:cNvPr id="20" name="Picture 19" descr="Railway passenger, traveler, train, platform, metro, transportation ...">
            <a:extLst>
              <a:ext uri="{FF2B5EF4-FFF2-40B4-BE49-F238E27FC236}">
                <a16:creationId xmlns:a16="http://schemas.microsoft.com/office/drawing/2014/main" id="{E1BE4590-2DEF-8DFF-352D-D97DF1ED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938" y="4038030"/>
            <a:ext cx="2666769" cy="26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95861"/>
            <a:ext cx="7965461" cy="994164"/>
          </a:xfrm>
        </p:spPr>
        <p:txBody>
          <a:bodyPr/>
          <a:lstStyle/>
          <a:p>
            <a:r>
              <a:rPr lang="en-US" dirty="0"/>
              <a:t>Core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3" y="1474654"/>
            <a:ext cx="8262863" cy="4148223"/>
          </a:xfrm>
        </p:spPr>
        <p:txBody>
          <a:bodyPr>
            <a:normAutofit/>
          </a:bodyPr>
          <a:lstStyle/>
          <a:p>
            <a:r>
              <a:rPr lang="en-US" sz="3200" dirty="0"/>
              <a:t>🔐 Authentication</a:t>
            </a:r>
          </a:p>
          <a:p>
            <a:r>
              <a:rPr lang="en-US" sz="3200" dirty="0"/>
              <a:t>🚆 Train Search</a:t>
            </a:r>
          </a:p>
          <a:p>
            <a:r>
              <a:rPr lang="en-US" sz="3200" dirty="0"/>
              <a:t>💺 Seat Selection</a:t>
            </a:r>
          </a:p>
          <a:p>
            <a:r>
              <a:rPr lang="en-US" sz="3200" dirty="0"/>
              <a:t>💳 Payment Processing</a:t>
            </a:r>
          </a:p>
          <a:p>
            <a:r>
              <a:rPr lang="en-US" sz="3200" dirty="0"/>
              <a:t>🎁 Loyalty Program</a:t>
            </a:r>
          </a:p>
          <a:p>
            <a:r>
              <a:rPr lang="en-US" sz="3200" dirty="0"/>
              <a:t>📊 Admin Dashboard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161" y="198016"/>
            <a:ext cx="7043617" cy="914951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32880" y="1351780"/>
            <a:ext cx="7959120" cy="5001679"/>
          </a:xfrm>
        </p:spPr>
        <p:txBody>
          <a:bodyPr numCol="2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Frontend:</a:t>
            </a:r>
          </a:p>
          <a:p>
            <a:pPr marL="690372" lvl="1" indent="-342900"/>
            <a:r>
              <a:rPr lang="en-US" sz="2800" dirty="0"/>
              <a:t>React </a:t>
            </a:r>
          </a:p>
          <a:p>
            <a:pPr marL="690372" lvl="1" indent="-342900"/>
            <a:r>
              <a:rPr lang="en-US" sz="2800" dirty="0"/>
              <a:t>Vite </a:t>
            </a:r>
          </a:p>
          <a:p>
            <a:pPr marL="690372" lvl="1" indent="-342900"/>
            <a:r>
              <a:rPr lang="en-US" sz="2800" dirty="0"/>
              <a:t>Tailwind CSS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Backend:</a:t>
            </a:r>
          </a:p>
          <a:p>
            <a:pPr marL="690372" lvl="1" indent="-342900"/>
            <a:r>
              <a:rPr lang="en-US" sz="2800" dirty="0"/>
              <a:t>Node.js </a:t>
            </a:r>
          </a:p>
          <a:p>
            <a:pPr marL="690372" lvl="1" indent="-342900"/>
            <a:r>
              <a:rPr lang="en-US" sz="2800" dirty="0"/>
              <a:t>Express.js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Database:</a:t>
            </a:r>
          </a:p>
          <a:p>
            <a:pPr marL="690372" lvl="1" indent="-342900"/>
            <a:r>
              <a:rPr lang="en-US" sz="2800" dirty="0"/>
              <a:t>MongoDB </a:t>
            </a:r>
          </a:p>
          <a:p>
            <a:pPr marL="690372" lvl="1" indent="-342900"/>
            <a:r>
              <a:rPr lang="en-US" sz="2800" dirty="0"/>
              <a:t>Mongoose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Security:</a:t>
            </a:r>
          </a:p>
          <a:p>
            <a:pPr marL="690372" lvl="1" indent="-342900"/>
            <a:r>
              <a:rPr lang="en-US" sz="2800" dirty="0"/>
              <a:t>JWT </a:t>
            </a:r>
          </a:p>
          <a:p>
            <a:pPr marL="690372" lvl="1" indent="-342900"/>
            <a:r>
              <a:rPr lang="en-US" sz="2800" dirty="0" err="1"/>
              <a:t>bcrypt</a:t>
            </a:r>
            <a:r>
              <a:rPr lang="en-US" sz="2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Uploads:</a:t>
            </a:r>
          </a:p>
          <a:p>
            <a:pPr marL="690372" lvl="1" indent="-342900"/>
            <a:r>
              <a:rPr lang="en-US" sz="2800" dirty="0"/>
              <a:t>Multer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DevOps:</a:t>
            </a:r>
          </a:p>
          <a:p>
            <a:pPr marL="690372" lvl="1" indent="-342900"/>
            <a:r>
              <a:rPr lang="en-US" sz="2800" dirty="0"/>
              <a:t>Azure DevOps </a:t>
            </a:r>
          </a:p>
          <a:p>
            <a:pPr marL="690372" lvl="1" indent="-342900"/>
            <a:r>
              <a:rPr lang="en-US" sz="2800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221767"/>
            <a:ext cx="7656395" cy="748505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660" y="1475648"/>
            <a:ext cx="4694830" cy="390670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React Frontend</a:t>
            </a:r>
          </a:p>
          <a:p>
            <a:pPr algn="ctr"/>
            <a:r>
              <a:rPr lang="en-US" dirty="0"/>
              <a:t>  │</a:t>
            </a:r>
          </a:p>
          <a:p>
            <a:pPr algn="ctr"/>
            <a:r>
              <a:rPr lang="en-US" dirty="0"/>
              <a:t> ▼</a:t>
            </a:r>
          </a:p>
          <a:p>
            <a:pPr algn="ctr"/>
            <a:r>
              <a:rPr lang="en-US" dirty="0"/>
              <a:t>Express REST API</a:t>
            </a:r>
          </a:p>
          <a:p>
            <a:pPr algn="ctr"/>
            <a:r>
              <a:rPr lang="en-US" dirty="0"/>
              <a:t> │</a:t>
            </a:r>
          </a:p>
          <a:p>
            <a:pPr algn="ctr"/>
            <a:r>
              <a:rPr lang="en-US" dirty="0"/>
              <a:t> ┌──────┴──────┐</a:t>
            </a:r>
          </a:p>
          <a:p>
            <a:pPr algn="ctr"/>
            <a:r>
              <a:rPr lang="en-US" dirty="0"/>
              <a:t>▼                                                   ▼</a:t>
            </a:r>
          </a:p>
          <a:p>
            <a:pPr algn="ctr"/>
            <a:r>
              <a:rPr lang="en-US" dirty="0"/>
              <a:t>MongoDB                                   File Uploads</a:t>
            </a:r>
          </a:p>
          <a:p>
            <a:pPr algn="ctr"/>
            <a:r>
              <a:rPr lang="en-US" dirty="0"/>
              <a:t>                                                     (Multer)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78052" y="1475648"/>
            <a:ext cx="3126620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Cross-cutting:</a:t>
            </a:r>
          </a:p>
          <a:p>
            <a:pPr marL="740664" lvl="1" indent="-457200">
              <a:buFont typeface="+mj-lt"/>
              <a:buAutoNum type="arabicPeriod"/>
            </a:pPr>
            <a:r>
              <a:rPr lang="en-US" sz="2400" dirty="0"/>
              <a:t>JWT Authentication </a:t>
            </a:r>
          </a:p>
          <a:p>
            <a:pPr marL="740664" lvl="1" indent="-457200">
              <a:buFont typeface="+mj-lt"/>
              <a:buAutoNum type="arabicPeriod"/>
            </a:pPr>
            <a:r>
              <a:rPr lang="en-US" sz="2400" dirty="0"/>
              <a:t>Role-Based Authorization </a:t>
            </a:r>
          </a:p>
          <a:p>
            <a:pPr marL="740664" lvl="1" indent="-457200">
              <a:buFont typeface="+mj-lt"/>
              <a:buAutoNum type="arabicPeriod"/>
            </a:pPr>
            <a:r>
              <a:rPr lang="en-US" sz="2400" dirty="0"/>
              <a:t>Seat Locking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17867-6FC0-756B-37C5-5254DD54F137}"/>
              </a:ext>
            </a:extLst>
          </p:cNvPr>
          <p:cNvSpPr/>
          <p:nvPr/>
        </p:nvSpPr>
        <p:spPr>
          <a:xfrm>
            <a:off x="95534" y="1255594"/>
            <a:ext cx="5063737" cy="4544705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3" y="616829"/>
            <a:ext cx="7631709" cy="569414"/>
          </a:xfrm>
        </p:spPr>
        <p:txBody>
          <a:bodyPr/>
          <a:lstStyle/>
          <a:p>
            <a:r>
              <a:rPr lang="en-US" dirty="0"/>
              <a:t>Passenger module: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32263" y="1237826"/>
            <a:ext cx="3282950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Features:</a:t>
            </a:r>
          </a:p>
          <a:p>
            <a:r>
              <a:rPr lang="en-US" dirty="0"/>
              <a:t>Search routes </a:t>
            </a:r>
          </a:p>
          <a:p>
            <a:r>
              <a:rPr lang="en-US" dirty="0"/>
              <a:t>Select seats </a:t>
            </a:r>
          </a:p>
          <a:p>
            <a:r>
              <a:rPr lang="en-US" dirty="0"/>
              <a:t>Apply discounts </a:t>
            </a:r>
          </a:p>
          <a:p>
            <a:r>
              <a:rPr lang="en-US" dirty="0"/>
              <a:t>Redeem loyalty points </a:t>
            </a:r>
          </a:p>
          <a:p>
            <a:r>
              <a:rPr lang="en-US" dirty="0"/>
              <a:t>View booking history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47112" r="4980"/>
          <a:stretch>
            <a:fillRect/>
          </a:stretch>
        </p:blipFill>
        <p:spPr>
          <a:xfrm>
            <a:off x="8163973" y="832514"/>
            <a:ext cx="4028028" cy="60254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CF3AA-B495-CFE3-DF6C-83B63552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12" r="17744" b="40826"/>
          <a:stretch>
            <a:fillRect/>
          </a:stretch>
        </p:blipFill>
        <p:spPr>
          <a:xfrm>
            <a:off x="3291721" y="1237826"/>
            <a:ext cx="4763069" cy="1676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02AEB-485F-57BE-4B12-A0E1113C18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37" r="15207"/>
          <a:stretch>
            <a:fillRect/>
          </a:stretch>
        </p:blipFill>
        <p:spPr>
          <a:xfrm>
            <a:off x="861113" y="3736310"/>
            <a:ext cx="4247065" cy="28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50" y="250704"/>
            <a:ext cx="7843837" cy="677984"/>
          </a:xfrm>
        </p:spPr>
        <p:txBody>
          <a:bodyPr/>
          <a:lstStyle/>
          <a:p>
            <a:r>
              <a:rPr lang="en-US" dirty="0" err="1"/>
              <a:t>Adminstrator</a:t>
            </a:r>
            <a:r>
              <a:rPr lang="en-US" dirty="0"/>
              <a:t> Module: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00250" y="1089844"/>
            <a:ext cx="6903076" cy="3721817"/>
          </a:xfrm>
        </p:spPr>
        <p:txBody>
          <a:bodyPr/>
          <a:lstStyle/>
          <a:p>
            <a:pPr>
              <a:buNone/>
            </a:pPr>
            <a:r>
              <a:rPr lang="en-US" dirty="0"/>
              <a:t>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Pricing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Revenue monitoring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1218" r="19218"/>
          <a:stretch>
            <a:fillRect/>
          </a:stretch>
        </p:blipFill>
        <p:spPr>
          <a:xfrm>
            <a:off x="8869131" y="3275463"/>
            <a:ext cx="3322869" cy="358253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175F9-C060-685B-26A4-69E3192C95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31569"/>
          <a:stretch>
            <a:fillRect/>
          </a:stretch>
        </p:blipFill>
        <p:spPr>
          <a:xfrm>
            <a:off x="3983751" y="928688"/>
            <a:ext cx="6943722" cy="22661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2D1B51-3F40-031A-1DF7-A8AB34B10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399" y="3519362"/>
            <a:ext cx="6312213" cy="309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405" y="159017"/>
            <a:ext cx="9879437" cy="980844"/>
          </a:xfrm>
        </p:spPr>
        <p:txBody>
          <a:bodyPr/>
          <a:lstStyle/>
          <a:p>
            <a:r>
              <a:rPr lang="en-US" dirty="0"/>
              <a:t>Database &amp; security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9405" y="1576867"/>
            <a:ext cx="2975217" cy="3172554"/>
          </a:xfrm>
        </p:spPr>
        <p:txBody>
          <a:bodyPr/>
          <a:lstStyle/>
          <a:p>
            <a:r>
              <a:rPr lang="en-US" sz="2400" dirty="0"/>
              <a:t>Collection:</a:t>
            </a:r>
          </a:p>
          <a:p>
            <a:pPr marL="1028700" lvl="1" indent="-342900"/>
            <a:r>
              <a:rPr lang="en-US" dirty="0"/>
              <a:t>Users</a:t>
            </a:r>
          </a:p>
          <a:p>
            <a:pPr marL="1028700" lvl="1" indent="-342900"/>
            <a:r>
              <a:rPr lang="en-US" dirty="0"/>
              <a:t>Bookings</a:t>
            </a:r>
          </a:p>
          <a:p>
            <a:pPr marL="1028700" lvl="1" indent="-342900"/>
            <a:r>
              <a:rPr lang="en-US" dirty="0"/>
              <a:t>Transactions</a:t>
            </a:r>
          </a:p>
          <a:p>
            <a:pPr marL="1028700" lvl="1" indent="-342900"/>
            <a:r>
              <a:rPr lang="en-US" dirty="0"/>
              <a:t>Schedules</a:t>
            </a:r>
          </a:p>
          <a:p>
            <a:pPr marL="1028700" lvl="1" indent="-342900"/>
            <a:r>
              <a:rPr lang="en-US" dirty="0"/>
              <a:t>Trains</a:t>
            </a:r>
          </a:p>
          <a:p>
            <a:pPr marL="1028700" lvl="1" indent="-342900"/>
            <a:r>
              <a:rPr lang="en-US" dirty="0"/>
              <a:t>Stations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C6EDB-0C58-832E-B9B4-561B40BE1997}"/>
              </a:ext>
            </a:extLst>
          </p:cNvPr>
          <p:cNvSpPr txBox="1"/>
          <p:nvPr/>
        </p:nvSpPr>
        <p:spPr>
          <a:xfrm>
            <a:off x="6726631" y="1576867"/>
            <a:ext cx="38759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Security: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Password hashing (</a:t>
            </a:r>
            <a:r>
              <a:rPr lang="en-US" sz="2400" dirty="0" err="1">
                <a:solidFill>
                  <a:srgbClr val="0070C0"/>
                </a:solidFill>
              </a:rPr>
              <a:t>bcrypt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JWT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Protected API routes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Role-based permissions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A0D1E4-89A6-C846-85B7-FA69CC8E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77" y="189036"/>
            <a:ext cx="7796464" cy="1007813"/>
          </a:xfrm>
        </p:spPr>
        <p:txBody>
          <a:bodyPr/>
          <a:lstStyle/>
          <a:p>
            <a:r>
              <a:rPr lang="en-US" sz="3200" dirty="0"/>
              <a:t>Key Technical Achievement</a:t>
            </a:r>
            <a:br>
              <a:rPr lang="en-US" sz="3200" dirty="0"/>
            </a:br>
            <a:r>
              <a:rPr lang="en-US" sz="3200" dirty="0"/>
              <a:t>Real-time seat locking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4DBC1-E634-3D93-9771-FED4382A1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C11A82-BA6F-EBE7-BC1C-59F95F844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9307" y="1568832"/>
            <a:ext cx="3283119" cy="45726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Multiple users booking the same seat</a:t>
            </a:r>
          </a:p>
          <a:p>
            <a:pPr>
              <a:buNone/>
            </a:pPr>
            <a:r>
              <a:rPr lang="en-US" sz="2400" dirty="0"/>
              <a:t>Solution: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MongoDB atomic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ptos Display" panose="020B0004020202020204" pitchFamily="34" charset="0"/>
              </a:rPr>
              <a:t>$</a:t>
            </a:r>
            <a:r>
              <a:rPr lang="en-US" sz="2400" dirty="0" err="1">
                <a:latin typeface="Aptos Display" panose="020B0004020202020204" pitchFamily="34" charset="0"/>
              </a:rPr>
              <a:t>addToSet</a:t>
            </a:r>
            <a:r>
              <a:rPr lang="en-US" sz="2400" dirty="0">
                <a:latin typeface="Aptos Display" panose="020B00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Aptos Display" panose="020B0004020202020204" pitchFamily="34" charset="0"/>
              </a:rPr>
              <a:t>arrayFilters</a:t>
            </a:r>
            <a:r>
              <a:rPr lang="en-US" sz="2400" dirty="0">
                <a:latin typeface="Aptos Display" panose="020B0004020202020204" pitchFamily="34" charset="0"/>
              </a:rPr>
              <a:t> </a:t>
            </a:r>
          </a:p>
          <a:p>
            <a:pPr>
              <a:buNone/>
            </a:pPr>
            <a:r>
              <a:rPr lang="en-US" sz="2400" dirty="0"/>
              <a:t>Result:</a:t>
            </a:r>
            <a:br>
              <a:rPr lang="en-US" sz="2400" dirty="0"/>
            </a:br>
            <a:r>
              <a:rPr lang="en-US" sz="2400" dirty="0"/>
              <a:t>- No double booking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AFE99EA-AC59-26DD-4BF4-3DFE44B8BE3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r="-2010" b="9673"/>
          <a:stretch>
            <a:fillRect/>
          </a:stretch>
        </p:blipFill>
        <p:spPr>
          <a:xfrm>
            <a:off x="3518723" y="1337481"/>
            <a:ext cx="5502448" cy="533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17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143" y="577492"/>
            <a:ext cx="9875463" cy="692244"/>
          </a:xfrm>
        </p:spPr>
        <p:txBody>
          <a:bodyPr/>
          <a:lstStyle/>
          <a:p>
            <a:r>
              <a:rPr lang="en-US" dirty="0"/>
              <a:t>Testing and validation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5" y="1666567"/>
            <a:ext cx="6228660" cy="3574173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2800" dirty="0"/>
              <a:t>- API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JWT validation </a:t>
            </a:r>
          </a:p>
          <a:p>
            <a:pPr>
              <a:buNone/>
            </a:pPr>
            <a:r>
              <a:rPr lang="en-US" sz="2800" dirty="0"/>
              <a:t>UI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Responsive design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- Boundary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Oversized image uploads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Invalid booking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50" y="750628"/>
            <a:ext cx="11068334" cy="1319432"/>
          </a:xfrm>
        </p:spPr>
        <p:txBody>
          <a:bodyPr/>
          <a:lstStyle/>
          <a:p>
            <a:r>
              <a:rPr lang="en-US" dirty="0"/>
              <a:t>Azure DevOps &amp; Project Management: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25777697"/>
              </p:ext>
            </p:extLst>
          </p:nvPr>
        </p:nvGraphicFramePr>
        <p:xfrm>
          <a:off x="914400" y="2316163"/>
          <a:ext cx="3957852" cy="40965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7892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197892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</a:tblGrid>
              <a:tr h="713640">
                <a:tc>
                  <a:txBody>
                    <a:bodyPr/>
                    <a:lstStyle/>
                    <a:p>
                      <a:r>
                        <a:rPr lang="en-US" dirty="0"/>
                        <a:t>Waterfall Phases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Azure </a:t>
                      </a:r>
                      <a:r>
                        <a:rPr lang="en-US" dirty="0" err="1"/>
                        <a:t>Devops</a:t>
                      </a:r>
                      <a:r>
                        <a:rPr lang="en-US" dirty="0"/>
                        <a:t> 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750627">
                <a:tc>
                  <a:txBody>
                    <a:bodyPr/>
                    <a:lstStyle/>
                    <a:p>
                      <a:r>
                        <a:rPr lang="en-US" dirty="0"/>
                        <a:t>1.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Epics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2.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3.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4.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Bug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5.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8645A2-B8ED-0F22-811D-CF9628011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635" y="2304226"/>
            <a:ext cx="6730621" cy="409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52712E-EC3B-052E-381F-8F695FBA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606419"/>
            <a:ext cx="3758415" cy="64453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908A73-315C-13F8-037B-4995319B0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849" y="1448203"/>
            <a:ext cx="5829147" cy="396159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Achievements:</a:t>
            </a:r>
          </a:p>
          <a:p>
            <a:r>
              <a:rPr lang="en-US" sz="2400" dirty="0"/>
              <a:t> Full MERN Stack Implementation</a:t>
            </a:r>
          </a:p>
          <a:p>
            <a:r>
              <a:rPr lang="en-US" sz="2400" dirty="0"/>
              <a:t> Dynamic Pricing</a:t>
            </a:r>
          </a:p>
          <a:p>
            <a:r>
              <a:rPr lang="en-US" sz="2400" dirty="0"/>
              <a:t> Loyalty Points</a:t>
            </a:r>
          </a:p>
          <a:p>
            <a:r>
              <a:rPr lang="en-US" sz="2400" dirty="0"/>
              <a:t> Admin Dashboard</a:t>
            </a:r>
          </a:p>
          <a:p>
            <a:r>
              <a:rPr lang="en-US" sz="2400" dirty="0"/>
              <a:t> Secure Authentication</a:t>
            </a:r>
          </a:p>
          <a:p>
            <a:r>
              <a:rPr lang="en-US" sz="2400" dirty="0"/>
              <a:t> Real-Time Seat Reservation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0F9802-879E-58CA-B118-B8C4812FA60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84996" y="1448203"/>
            <a:ext cx="5529500" cy="432480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tx1"/>
                </a:solidFill>
              </a:rPr>
              <a:t>ChuppaChup</a:t>
            </a:r>
            <a:r>
              <a:rPr lang="en-US" sz="2400" b="1" dirty="0">
                <a:solidFill>
                  <a:schemeClr val="tx1"/>
                </a:solidFill>
              </a:rPr>
              <a:t> Green Train successfully modernizes train ticket booking through a secure, scalable, and user-friendly web platform.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400" dirty="0"/>
              <a:t>Future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Real payment gateway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Email ticket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Mobile 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AI-powered recommendations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4F42-D78D-3B5B-E2D3-34903368E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11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741" y="4168448"/>
            <a:ext cx="5715000" cy="2234642"/>
          </a:xfrm>
        </p:spPr>
        <p:txBody>
          <a:bodyPr/>
          <a:lstStyle/>
          <a:p>
            <a:r>
              <a:rPr lang="en-US" dirty="0"/>
              <a:t>Trong Minh Khoa Nguyen</a:t>
            </a:r>
          </a:p>
          <a:p>
            <a:r>
              <a:rPr lang="en-US" dirty="0"/>
              <a:t>+48 694 295 202</a:t>
            </a:r>
          </a:p>
          <a:p>
            <a:r>
              <a:rPr lang="en-US" dirty="0"/>
              <a:t>72855@student.edu,wsiz.pl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{9B76C11B-BA3A-4431-BFC0-A0A29AD51C68}TF8a9b5915-b8c7-461e-8cdd-693d48b5e32371f7b7e2_win32-4bf0b9a2ea37</Template>
  <TotalTime>117</TotalTime>
  <Words>465</Words>
  <Application>Microsoft Office PowerPoint</Application>
  <PresentationFormat>Widescreen</PresentationFormat>
  <Paragraphs>155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Aptos Display</vt:lpstr>
      <vt:lpstr>Arial</vt:lpstr>
      <vt:lpstr>Arial Black</vt:lpstr>
      <vt:lpstr>Calibri</vt:lpstr>
      <vt:lpstr>Sabon Next LT</vt:lpstr>
      <vt:lpstr>Custom</vt:lpstr>
      <vt:lpstr>CHUPPACHUP GREEN TRAIN The future of transportation  project presentation</vt:lpstr>
      <vt:lpstr>Agenda</vt:lpstr>
      <vt:lpstr>Problem &amp; solution: - Problem: - Traditional ticket booking is - inconvenient - Risk of double booking   - Limited discount verification   - Fragmented management process Solution:  - ChuppaChup Green Train Online ticket booking;   - Real-time seat selection   - Dynamic pricing   - Loyalty system   - Administrative dashboard </vt:lpstr>
      <vt:lpstr>Target Users:</vt:lpstr>
      <vt:lpstr>Core features:</vt:lpstr>
      <vt:lpstr>Technology stack</vt:lpstr>
      <vt:lpstr>System architecture</vt:lpstr>
      <vt:lpstr>Passenger module:</vt:lpstr>
      <vt:lpstr>Adminstrator Module:</vt:lpstr>
      <vt:lpstr>Database &amp; security</vt:lpstr>
      <vt:lpstr>Key Technical Achievement Real-time seat locking</vt:lpstr>
      <vt:lpstr>Testing and validation</vt:lpstr>
      <vt:lpstr>Azure DevOps &amp; Project Management: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Minh khoa Nguyen trong</dc:creator>
  <cp:lastModifiedBy>Minh khoa Nguyen trong</cp:lastModifiedBy>
  <cp:revision>2</cp:revision>
  <dcterms:created xsi:type="dcterms:W3CDTF">2026-05-20T12:11:01Z</dcterms:created>
  <dcterms:modified xsi:type="dcterms:W3CDTF">2026-05-20T14:08:51Z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